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anrope" panose="020B0604020202020204" charset="0"/>
      <p:regular r:id="rId13"/>
    </p:embeddedFont>
    <p:embeddedFont>
      <p:font typeface="Manrope Bold" panose="020B0604020202020204" charset="0"/>
      <p:regular r:id="rId14"/>
    </p:embeddedFont>
    <p:embeddedFont>
      <p:font typeface="Noto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6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91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5D3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506" y="487462"/>
            <a:ext cx="3538350" cy="463153"/>
          </a:xfrm>
          <a:prstGeom prst="roundRect">
            <a:avLst>
              <a:gd name="adj" fmla="val 22112"/>
            </a:avLst>
          </a:prstGeom>
          <a:solidFill>
            <a:srgbClr val="EFE6DC"/>
          </a:solidFill>
          <a:ln/>
        </p:spPr>
      </p:sp>
      <p:sp>
        <p:nvSpPr>
          <p:cNvPr id="3" name="Text 1"/>
          <p:cNvSpPr/>
          <p:nvPr/>
        </p:nvSpPr>
        <p:spPr>
          <a:xfrm>
            <a:off x="397361" y="596004"/>
            <a:ext cx="378222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УЧЕБНАЯ ПРАКТИКА · ПМ.01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14506" y="1187152"/>
            <a:ext cx="5308467" cy="762000"/>
          </a:xfrm>
          <a:prstGeom prst="rect">
            <a:avLst/>
          </a:prstGeom>
          <a:noFill/>
          <a:ln/>
          <a:effectLst>
            <a:outerShdw blurRad="127" dist="26670" dir="2700000" algn="bl" rotWithShape="0">
              <a:srgbClr val="D6BFA5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b="1" kern="100" spc="-120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CapyCafe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14506" y="2177752"/>
            <a:ext cx="5308467" cy="965200"/>
          </a:xfrm>
          <a:prstGeom prst="rect">
            <a:avLst/>
          </a:prstGeom>
          <a:noFill/>
          <a:ln/>
          <a:effectLst>
            <a:outerShdw blurRad="127" dist="26670" dir="2700000" algn="bl" rotWithShape="0">
              <a:srgbClr val="D6BFA5">
                <a:alpha val="100000"/>
              </a:srgbClr>
            </a:outerShdw>
          </a:effectLst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7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цифровой помощник</a:t>
            </a:r>
            <a:endParaRPr lang="en-US" sz="3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7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для кафе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14506" y="3589040"/>
            <a:ext cx="5308467" cy="19050"/>
          </a:xfrm>
          <a:prstGeom prst="rect">
            <a:avLst/>
          </a:prstGeom>
          <a:solidFill>
            <a:srgbClr val="E4D6C3"/>
          </a:solidFill>
          <a:ln/>
        </p:spPr>
      </p:sp>
      <p:sp>
        <p:nvSpPr>
          <p:cNvPr id="7" name="Shape 5"/>
          <p:cNvSpPr/>
          <p:nvPr/>
        </p:nvSpPr>
        <p:spPr>
          <a:xfrm>
            <a:off x="214506" y="3455690"/>
            <a:ext cx="1751762" cy="571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14506" y="3892570"/>
            <a:ext cx="53084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Информационная система управления меню и заказами кафе.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4506" y="4907260"/>
            <a:ext cx="5308467" cy="1473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ГБПОУ АО «Астраханский колледж вычислительной техники»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специальность 09.02.07 · группа ИС-32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Авторы: Гусаров А.С. ; Покусаев И.А.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Руководители: Мухамбетова М.М. и Макрушин А.Н.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endParaRPr lang="en-US" sz="1400" dirty="0">
              <a:solidFill>
                <a:srgbClr val="000000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Астрахань</a:t>
            </a: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2026</a:t>
            </a:r>
            <a:endParaRPr lang="en-US" sz="1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9E9F8D-B36D-D45F-7E3D-7C4C8EAF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607" y="6523265"/>
            <a:ext cx="1129393" cy="33473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C6BB2A8-9F0B-52A6-BD53-09D8C3612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-604372"/>
            <a:ext cx="7494648" cy="7494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9391"/>
            <a:ext cx="629904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04" dirty="0">
                <a:solidFill>
                  <a:srgbClr val="382A2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БИЗНЕС-ПРОБЛЕМА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575551"/>
            <a:ext cx="576565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Когда меню и заказы</a:t>
            </a:r>
            <a:endParaRPr lang="en-US" sz="28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живут разрозненно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80686"/>
            <a:ext cx="5765656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повседневной работе кафе нужно одновременно находить блюда и цены, фиксировать состав заказа, отслеживать его состояние, считать итог и видеть сводку продаж.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999607"/>
            <a:ext cx="761981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956340"/>
            <a:ext cx="171862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382A2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Меню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5463917"/>
            <a:ext cx="171862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Блюда и цены в одном месте.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001" y="3999607"/>
            <a:ext cx="761981" cy="76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33001" y="4956340"/>
            <a:ext cx="17187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382A2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Заказы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633001" y="5463917"/>
            <a:ext cx="1718723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Состав и статусы без бумажных записей.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517" y="3999607"/>
            <a:ext cx="761981" cy="76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56517" y="4956340"/>
            <a:ext cx="171862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382A2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Расчёты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656517" y="5463917"/>
            <a:ext cx="171862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 и продажи без повторной работы.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0E5D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430"/>
            <a:ext cx="6705432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400" b="1" kern="100" spc="-68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CapyCafe объединяет основные операции кафе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904206"/>
            <a:ext cx="6705432" cy="434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Меню под контролем: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категории, блюда, цены, поиск, фильтрация и сортировка.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Порядок в заказах: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создание заказа, управление составом и изменение статуса.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Меньше ручных расчётов: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система автоматически вычисляет итоговую стоимость.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Информация для решений: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популярные блюда и выручка по оплаченным заказам.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394" y="0"/>
            <a:ext cx="3962301" cy="6858000"/>
          </a:xfrm>
          <a:prstGeom prst="rect">
            <a:avLst/>
          </a:prstGeom>
          <a:solidFill>
            <a:srgbClr val="F0E5D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7907" b="7900"/>
          <a:stretch>
            <a:fillRect/>
          </a:stretch>
        </p:blipFill>
        <p:spPr>
          <a:xfrm>
            <a:off x="8229394" y="0"/>
            <a:ext cx="396260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80"/>
            <a:ext cx="7101702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Один заказ проходит понятный путь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33440"/>
            <a:ext cx="771128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Принят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Готовится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Готов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Выдан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Оплачен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1913156"/>
            <a:ext cx="771128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Отдельная ветвь: </a:t>
            </a: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Отменён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586236"/>
            <a:ext cx="7101702" cy="269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Сотрудник выбирает блюда из меню.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формирует заказ и рассчитывает стоимость.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Статус обновляется по мере выполнения.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оплаты заказ попадает в данные для отчёта о выручке.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6111" r="4125" b="3822"/>
          <a:stretch>
            <a:fillRect/>
          </a:stretch>
        </p:blipFill>
        <p:spPr>
          <a:xfrm>
            <a:off x="9153525" y="0"/>
            <a:ext cx="3038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80"/>
            <a:ext cx="710170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Оплаченный заказ превращается в полезные данные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28986"/>
            <a:ext cx="7101702" cy="2330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оплаты заказ отражается в данных для отчёта, где его можно учитывать вместе с другими оплаченными заказами.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Оплаченный заказ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Данные для отчёта</a:t>
            </a: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24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Популярные блюда и выручка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4332387"/>
            <a:ext cx="2367201" cy="2460427"/>
          </a:xfrm>
          <a:custGeom>
            <a:avLst/>
            <a:gdLst/>
            <a:ahLst/>
            <a:cxnLst/>
            <a:rect l="l" t="t" r="r" b="b"/>
            <a:pathLst>
              <a:path w="2367201" h="2460427">
                <a:moveTo>
                  <a:pt x="106677" y="0"/>
                </a:moveTo>
                <a:lnTo>
                  <a:pt x="2367201" y="0"/>
                </a:lnTo>
                <a:lnTo>
                  <a:pt x="2367201" y="2460427"/>
                </a:lnTo>
                <a:lnTo>
                  <a:pt x="106677" y="2460427"/>
                </a:lnTo>
                <a:arcTo wR="106677" hR="106680" stAng="5400000" swAng="5400000"/>
                <a:lnTo>
                  <a:pt x="0" y="106680"/>
                </a:lnTo>
                <a:arcTo wR="106677" hR="106680" stAng="10800000" swAng="5400000"/>
                <a:close/>
              </a:path>
            </a:pathLst>
          </a:custGeom>
          <a:solidFill>
            <a:srgbClr val="F0E5D3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4552520"/>
            <a:ext cx="196081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Оплата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5060097"/>
            <a:ext cx="196081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Заказ завершён и готов к отражению в отчётных данных.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76786" y="4332387"/>
            <a:ext cx="2367201" cy="2460427"/>
          </a:xfrm>
          <a:prstGeom prst="rect">
            <a:avLst/>
          </a:prstGeom>
          <a:solidFill>
            <a:srgbClr val="F0E5D3"/>
          </a:solidFill>
          <a:ln/>
        </p:spPr>
      </p:sp>
      <p:sp>
        <p:nvSpPr>
          <p:cNvPr id="8" name="Text 6"/>
          <p:cNvSpPr/>
          <p:nvPr/>
        </p:nvSpPr>
        <p:spPr>
          <a:xfrm>
            <a:off x="3179981" y="4552520"/>
            <a:ext cx="196081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Отчёт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79981" y="5060097"/>
            <a:ext cx="1960811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собирает сведения об оплаченных заказах.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43987" y="4332387"/>
            <a:ext cx="2367300" cy="2460427"/>
          </a:xfrm>
          <a:custGeom>
            <a:avLst/>
            <a:gdLst/>
            <a:ahLst/>
            <a:cxnLst/>
            <a:rect l="l" t="t" r="r" b="b"/>
            <a:pathLst>
              <a:path w="2367300" h="2460427">
                <a:moveTo>
                  <a:pt x="0" y="0"/>
                </a:moveTo>
                <a:lnTo>
                  <a:pt x="2260623" y="0"/>
                </a:lnTo>
                <a:arcTo wR="106677" hR="106680" stAng="16200000" swAng="5400000"/>
                <a:lnTo>
                  <a:pt x="2367300" y="2353747"/>
                </a:lnTo>
                <a:arcTo wR="106677" hR="106680" stAng="0" swAng="5400000"/>
                <a:lnTo>
                  <a:pt x="0" y="2460427"/>
                </a:lnTo>
                <a:lnTo>
                  <a:pt x="0" y="0"/>
                </a:lnTo>
                <a:close/>
              </a:path>
            </a:pathLst>
          </a:custGeom>
          <a:solidFill>
            <a:srgbClr val="F0E5D3"/>
          </a:solidFill>
          <a:ln/>
        </p:spPr>
      </p:sp>
      <p:sp>
        <p:nvSpPr>
          <p:cNvPr id="11" name="Text 9"/>
          <p:cNvSpPr/>
          <p:nvPr/>
        </p:nvSpPr>
        <p:spPr>
          <a:xfrm>
            <a:off x="5547182" y="4552520"/>
            <a:ext cx="196091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Выводы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47182" y="5060097"/>
            <a:ext cx="196091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Видны популярные позиции меню и выручка.</a:t>
            </a:r>
            <a:endParaRPr lang="en-US" sz="1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4537" r="14086"/>
          <a:stretch>
            <a:fillRect/>
          </a:stretch>
        </p:blipFill>
        <p:spPr>
          <a:xfrm>
            <a:off x="8134350" y="0"/>
            <a:ext cx="4057650" cy="684983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970436" y="4332387"/>
            <a:ext cx="12700" cy="24604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337637" y="4332387"/>
            <a:ext cx="12700" cy="24604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80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От требований —</a:t>
            </a:r>
            <a:endParaRPr lang="en-US" sz="28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 работающему результату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728986"/>
            <a:ext cx="3657509" cy="2202656"/>
          </a:xfrm>
          <a:custGeom>
            <a:avLst/>
            <a:gdLst/>
            <a:ahLst/>
            <a:cxnLst/>
            <a:rect l="l" t="t" r="r" b="b"/>
            <a:pathLst>
              <a:path w="3657509" h="2202656">
                <a:moveTo>
                  <a:pt x="106677" y="0"/>
                </a:moveTo>
                <a:lnTo>
                  <a:pt x="3657509" y="0"/>
                </a:lnTo>
                <a:lnTo>
                  <a:pt x="3657509" y="2202656"/>
                </a:lnTo>
                <a:lnTo>
                  <a:pt x="106677" y="2202656"/>
                </a:lnTo>
                <a:arcTo wR="106677" hR="106680" stAng="5400000" swAng="5400000"/>
                <a:lnTo>
                  <a:pt x="0" y="106680"/>
                </a:lnTo>
                <a:arcTo wR="106677" hR="106680" stAng="10800000" swAng="5400000"/>
                <a:close/>
              </a:path>
            </a:pathLst>
          </a:custGeom>
          <a:solidFill>
            <a:srgbClr val="F0E5D3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74519"/>
            <a:ext cx="32003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Меню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2482096"/>
            <a:ext cx="320032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Категории, блюда, цены, поиск и фильтрация собраны в одном рабочем контуре.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67093" y="1728986"/>
            <a:ext cx="3657509" cy="2202656"/>
          </a:xfrm>
          <a:prstGeom prst="rect">
            <a:avLst/>
          </a:prstGeom>
          <a:solidFill>
            <a:srgbClr val="F0E5D3"/>
          </a:solidFill>
          <a:ln/>
        </p:spPr>
      </p:sp>
      <p:sp>
        <p:nvSpPr>
          <p:cNvPr id="7" name="Text 5"/>
          <p:cNvSpPr/>
          <p:nvPr/>
        </p:nvSpPr>
        <p:spPr>
          <a:xfrm>
            <a:off x="4495688" y="1974519"/>
            <a:ext cx="32003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Заказы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688" y="2482096"/>
            <a:ext cx="320032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Заказ создаётся, состав управляется, а статус меняется по мере выполнения.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24602" y="1728986"/>
            <a:ext cx="3657509" cy="2202656"/>
          </a:xfrm>
          <a:custGeom>
            <a:avLst/>
            <a:gdLst/>
            <a:ahLst/>
            <a:cxnLst/>
            <a:rect l="l" t="t" r="r" b="b"/>
            <a:pathLst>
              <a:path w="3657509" h="2202656">
                <a:moveTo>
                  <a:pt x="0" y="0"/>
                </a:moveTo>
                <a:lnTo>
                  <a:pt x="3550831" y="0"/>
                </a:lnTo>
                <a:arcTo wR="106677" hR="106680" stAng="16200000" swAng="5400000"/>
                <a:lnTo>
                  <a:pt x="3657509" y="2095976"/>
                </a:lnTo>
                <a:arcTo wR="106677" hR="106680" stAng="0" swAng="5400000"/>
                <a:lnTo>
                  <a:pt x="0" y="2202656"/>
                </a:lnTo>
                <a:lnTo>
                  <a:pt x="0" y="0"/>
                </a:lnTo>
                <a:close/>
              </a:path>
            </a:pathLst>
          </a:custGeom>
          <a:solidFill>
            <a:srgbClr val="F0E5D3"/>
          </a:solidFill>
          <a:ln/>
        </p:spPr>
      </p:sp>
      <p:sp>
        <p:nvSpPr>
          <p:cNvPr id="10" name="Text 8"/>
          <p:cNvSpPr/>
          <p:nvPr/>
        </p:nvSpPr>
        <p:spPr>
          <a:xfrm>
            <a:off x="8153196" y="1974519"/>
            <a:ext cx="32003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Отчётность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53196" y="2482096"/>
            <a:ext cx="320032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Итоговая стоимость, популярные блюда и выручка доступны для анализа.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585" y="4204692"/>
            <a:ext cx="10972526" cy="1280120"/>
          </a:xfrm>
          <a:prstGeom prst="rect">
            <a:avLst/>
          </a:prstGeom>
          <a:solidFill>
            <a:srgbClr val="D6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888978" y="4444722"/>
            <a:ext cx="1041373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Функциональность реализована и протестирована. Проект доведён до рабочего состояния, а не остановился на этапе проектирования.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260743" y="1728986"/>
            <a:ext cx="12700" cy="22026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18252" y="1728986"/>
            <a:ext cx="12700" cy="22026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E308E1C-A318-9850-F822-DFB9E36C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175" y="6581738"/>
            <a:ext cx="1238250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80"/>
            <a:ext cx="472428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Простая архитектура - сложнее не значит лучше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28986"/>
            <a:ext cx="4724282" cy="2670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Пользователь → консольное приложение Python → база данных SQLite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Python: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логика приложения 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SQLite 3 и sqlite3: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хранение и доступ к данным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</a:t>
            </a: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pathlib: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работа с путями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F0E5D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9" y="203200"/>
            <a:ext cx="761981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01246" y="220133"/>
            <a:ext cx="448725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Пользователь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01246" y="727710"/>
            <a:ext cx="44872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вводит данные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439" y="1175345"/>
            <a:ext cx="761981" cy="76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01246" y="1192279"/>
            <a:ext cx="448725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Python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501246" y="1699855"/>
            <a:ext cx="44872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обрабатывает операции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439" y="2147491"/>
            <a:ext cx="761981" cy="76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01246" y="2164424"/>
            <a:ext cx="448725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100" spc="-40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SQLite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7501246" y="2672001"/>
            <a:ext cx="44872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сохраняет результат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51439" y="3253621"/>
            <a:ext cx="553706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Плюсы подхода: простая установка, автономная работа без интернета и отдельного сервера базы данных. Текущая версия рассчитана на одного оператора.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80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ER-диаграмма связывает меню и заказы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31535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Структура связывает меню, сотрудников, статусы и заказы в согласованную модель данных.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6036418"/>
            <a:ext cx="109725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price_at_order</a:t>
            </a:r>
            <a:r>
              <a:rPr lang="en-US" sz="18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хранит цену блюда на момент заказа: изменение цены меню не искажает историю старого заказа.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CDF37D-D266-C200-0794-D6C71D94D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291" y="6449120"/>
            <a:ext cx="1591709" cy="408879"/>
          </a:xfrm>
          <a:prstGeom prst="rect">
            <a:avLst/>
          </a:prstGeom>
        </p:spPr>
      </p:pic>
      <p:sp>
        <p:nvSpPr>
          <p:cNvPr id="7" name="AutoShape 2" descr="Сгенерированное изображение 8">
            <a:extLst>
              <a:ext uri="{FF2B5EF4-FFF2-40B4-BE49-F238E27FC236}">
                <a16:creationId xmlns:a16="http://schemas.microsoft.com/office/drawing/2014/main" id="{8125DF71-05ED-F4EE-AA59-16E1AF5A17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E723E0E7-8833-D474-6952-BB80F1CECF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70" r="2864" b="3024"/>
          <a:stretch>
            <a:fillRect/>
          </a:stretch>
        </p:blipFill>
        <p:spPr>
          <a:xfrm>
            <a:off x="609585" y="2119131"/>
            <a:ext cx="5806455" cy="3917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3630"/>
            <a:ext cx="11378915" cy="992981"/>
          </a:xfrm>
          <a:prstGeom prst="rect">
            <a:avLst/>
          </a:prstGeom>
          <a:noFill/>
          <a:ln/>
          <a:effectLst>
            <a:outerShdw blurRad="127" dist="26670" dir="2700000" algn="bl" rotWithShape="0">
              <a:srgbClr val="D6BFA5">
                <a:alpha val="100000"/>
              </a:srgbClr>
            </a:outerShdw>
          </a:effectLst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400" b="1" kern="100" spc="-68" dirty="0">
                <a:solidFill>
                  <a:srgbClr val="382A2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CapyCafe уже работает — дальше его можно развивать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808956"/>
            <a:ext cx="11378915" cy="19050"/>
          </a:xfrm>
          <a:prstGeom prst="rect">
            <a:avLst/>
          </a:prstGeom>
          <a:solidFill>
            <a:srgbClr val="E4D6C3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675606"/>
            <a:ext cx="3755038" cy="571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3205" y="2101056"/>
            <a:ext cx="5537061" cy="3236416"/>
          </a:xfrm>
          <a:prstGeom prst="roundRect">
            <a:avLst>
              <a:gd name="adj" fmla="val 3955"/>
            </a:avLst>
          </a:prstGeom>
          <a:solidFill>
            <a:srgbClr val="F0E5D3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2351824"/>
            <a:ext cx="507987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kern="100" spc="-48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Получено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4984" y="2899172"/>
            <a:ext cx="5079873" cy="220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для меню и заказов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База SQLite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 стоимости, статусы и отчётные данные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48244" y="2101056"/>
            <a:ext cx="5537061" cy="3236416"/>
          </a:xfrm>
          <a:prstGeom prst="roundRect">
            <a:avLst>
              <a:gd name="adj" fmla="val 3955"/>
            </a:avLst>
          </a:prstGeom>
          <a:solidFill>
            <a:srgbClr val="F0E5D3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351824"/>
            <a:ext cx="507987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kern="100" spc="-48" dirty="0">
                <a:solidFill>
                  <a:srgbClr val="4F4036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Дальше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76838" y="2899172"/>
            <a:ext cx="5079873" cy="220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Графический интерфейс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 пользователями и доступом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4F40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Складские остатки и интеграция с кассой</a:t>
            </a:r>
            <a:endParaRPr lang="en-US" sz="2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00A845D-EFCC-F705-B7E2-DC582C11D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6524370"/>
            <a:ext cx="1162050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4B2763-A0DE-CFB8-1899-8DCB35513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43725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18240D-FE9F-7D4D-7AA2-6234F4BA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98" y="90182"/>
            <a:ext cx="5715798" cy="43725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46EEAE-41D8-627F-B914-48D78D72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159"/>
          <a:stretch>
            <a:fillRect/>
          </a:stretch>
        </p:blipFill>
        <p:spPr>
          <a:xfrm>
            <a:off x="0" y="4372585"/>
            <a:ext cx="5715798" cy="248541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45BA03-7583-AE99-5C1D-965A5AE77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844"/>
          <a:stretch>
            <a:fillRect/>
          </a:stretch>
        </p:blipFill>
        <p:spPr>
          <a:xfrm>
            <a:off x="5715798" y="4446252"/>
            <a:ext cx="5715798" cy="24117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BA1438-A3E5-6237-1F38-2E97D8EF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002"/>
          <a:stretch>
            <a:fillRect/>
          </a:stretch>
        </p:blipFill>
        <p:spPr>
          <a:xfrm>
            <a:off x="8419701" y="0"/>
            <a:ext cx="3772299" cy="437258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0372DAA-13F3-0FFC-E49E-086B9E9D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37" b="42535"/>
          <a:stretch>
            <a:fillRect/>
          </a:stretch>
        </p:blipFill>
        <p:spPr>
          <a:xfrm>
            <a:off x="7867251" y="4358930"/>
            <a:ext cx="4324749" cy="251272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719BF4-DD65-E1D9-48A2-69E84450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9" t="4444" r="3863" b="3704"/>
          <a:stretch>
            <a:fillRect/>
          </a:stretch>
        </p:blipFill>
        <p:spPr>
          <a:xfrm>
            <a:off x="559959" y="1007556"/>
            <a:ext cx="4687378" cy="46445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A17F82-3EF4-8962-C5BF-77F4DAC6745E}"/>
              </a:ext>
            </a:extLst>
          </p:cNvPr>
          <p:cNvSpPr txBox="1"/>
          <p:nvPr/>
        </p:nvSpPr>
        <p:spPr>
          <a:xfrm>
            <a:off x="5807296" y="113898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Bold" panose="020B0604020202020204" charset="0"/>
                <a:ea typeface="Noto Sans Bold" panose="020B0604020202020204" charset="0"/>
                <a:cs typeface="Noto Sans Bold" panose="020B0604020202020204" charset="0"/>
              </a:rPr>
              <a:t>Наша капибара живёт на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Bold" panose="020B0604020202020204" charset="0"/>
                <a:ea typeface="Noto Sans Bold" panose="020B0604020202020204" charset="0"/>
                <a:cs typeface="Noto Sans Bold" panose="020B0604020202020204" charset="0"/>
              </a:rPr>
              <a:t>GitHub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Bold" panose="020B0604020202020204" charset="0"/>
                <a:ea typeface="Noto Sans Bold" panose="020B0604020202020204" charset="0"/>
                <a:cs typeface="Noto Sans Bold" panose="020B0604020202020204" charset="0"/>
              </a:rPr>
              <a:t> и приглашает вас в гости!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0D066A1-9C84-6700-195E-AD557CCB9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89" y="1827641"/>
            <a:ext cx="5450616" cy="545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4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517</Words>
  <Application>Microsoft Office PowerPoint</Application>
  <PresentationFormat>Широкоэкранный</PresentationFormat>
  <Paragraphs>85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Manrope Bold</vt:lpstr>
      <vt:lpstr>Manrope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Midzu</dc:creator>
  <cp:lastModifiedBy>Midzu</cp:lastModifiedBy>
  <cp:revision>2</cp:revision>
  <dcterms:created xsi:type="dcterms:W3CDTF">2026-10-11T13:00:13Z</dcterms:created>
  <dcterms:modified xsi:type="dcterms:W3CDTF">2026-10-11T13:49:16Z</dcterms:modified>
</cp:coreProperties>
</file>