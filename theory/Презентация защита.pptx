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Fira Sans SemiBold" panose="020B0604020202020204" charset="0"/>
      <p:regular r:id="rId15"/>
    </p:embeddedFont>
    <p:embeddedFont>
      <p:font typeface="Fira Sans" panose="020B0604020202020204" charset="0"/>
      <p:regular r:id="rId16"/>
    </p:embeddedFont>
    <p:embeddedFont>
      <p:font typeface="Fira Mono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356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22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3149521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22252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ПМ.01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22252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ГБПОУ АО «АКВТ»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22252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2026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189" y="5369719"/>
            <a:ext cx="3149521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Разработчики: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студенты гр. ИС-32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ru-RU" sz="1450" dirty="0" smtClean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Гусаров</a:t>
            </a:r>
            <a:r>
              <a:rPr lang="en-US" sz="1450" dirty="0" smtClean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ru-RU" sz="1450" dirty="0" smtClean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А</a:t>
            </a:r>
            <a:r>
              <a:rPr lang="en-US" sz="1450" dirty="0" smtClean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r>
              <a:rPr lang="ru-RU" sz="1450" dirty="0" smtClean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</a:t>
            </a:r>
            <a:r>
              <a:rPr lang="en-US" sz="1450" dirty="0" smtClean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ru-RU" sz="1450" dirty="0" smtClean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Покусаев</a:t>
            </a:r>
            <a:r>
              <a:rPr lang="en-US" sz="1450" dirty="0" smtClean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</a:t>
            </a:r>
            <a:r>
              <a:rPr lang="ru-RU" sz="1450" dirty="0" smtClean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И</a:t>
            </a:r>
            <a:r>
              <a:rPr lang="en-US" sz="1450" dirty="0" smtClean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r>
              <a:rPr lang="ru-RU" sz="1450" dirty="0" smtClean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А</a:t>
            </a:r>
            <a:r>
              <a:rPr lang="en-US" sz="1450" dirty="0" smtClean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521087" y="1579662"/>
            <a:ext cx="76706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22252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Информационная система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21087" y="2374007"/>
            <a:ext cx="721342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000" kern="100" spc="-90" dirty="0">
                <a:solidFill>
                  <a:srgbClr val="0052CC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«CapyCafe»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21087" y="3354976"/>
            <a:ext cx="7213420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 dirty="0">
                <a:solidFill>
                  <a:srgbClr val="22252A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Кафе «Причал»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21087" y="4060825"/>
            <a:ext cx="2380397" cy="69751"/>
          </a:xfrm>
          <a:prstGeom prst="roundRect">
            <a:avLst>
              <a:gd name="adj" fmla="val 49999"/>
            </a:avLst>
          </a:prstGeom>
          <a:solidFill>
            <a:srgbClr val="0052CC"/>
          </a:solidFill>
          <a:ln/>
        </p:spPr>
      </p:sp>
      <p:sp>
        <p:nvSpPr>
          <p:cNvPr id="8" name="Text 6"/>
          <p:cNvSpPr/>
          <p:nvPr/>
        </p:nvSpPr>
        <p:spPr>
          <a:xfrm>
            <a:off x="4521087" y="4621212"/>
            <a:ext cx="721342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Автоматизация операционного учета в рамках модуля ПМ.01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057548" y="0"/>
            <a:ext cx="12700" cy="6858000"/>
          </a:xfrm>
          <a:prstGeom prst="rect">
            <a:avLst/>
          </a:prstGeom>
          <a:solidFill>
            <a:srgbClr val="22252A"/>
          </a:solidFill>
          <a:ln/>
        </p:spPr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83" y="6562684"/>
            <a:ext cx="1343212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22252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Проблема учета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189" y="1203815"/>
            <a:ext cx="11277318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 dirty="0">
                <a:solidFill>
                  <a:srgbClr val="22252A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Бумажный учет дает четыре критичных сбоя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1981" y="2660967"/>
            <a:ext cx="5029074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Ошибки в суммах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61981" y="3219748"/>
            <a:ext cx="502907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Ручной подсчет чеков в пиковые часы приводит к арифметическим ошибкам.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640" y="2660967"/>
            <a:ext cx="5029074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Потеря заказов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400640" y="3219748"/>
            <a:ext cx="502907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Бланки теряются и портятся при передаче между залом и кухней.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1981" y="4438868"/>
            <a:ext cx="5029074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Непрозрачные статусы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61981" y="4997648"/>
            <a:ext cx="502907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Нет мониторинга выполнения заказов в реальном времени.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640" y="4438868"/>
            <a:ext cx="5029074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Недостоверная аналитика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400640" y="4997648"/>
            <a:ext cx="502907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Невозможно точно рассчитать выручку и популярность блюд.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89498" y="1857276"/>
            <a:ext cx="12700" cy="2271713"/>
          </a:xfrm>
          <a:prstGeom prst="rect">
            <a:avLst/>
          </a:prstGeom>
          <a:solidFill>
            <a:srgbClr val="22252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189" y="4122638"/>
            <a:ext cx="5638659" cy="12700"/>
          </a:xfrm>
          <a:prstGeom prst="rect">
            <a:avLst/>
          </a:prstGeom>
          <a:solidFill>
            <a:srgbClr val="22252A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9498" y="4128988"/>
            <a:ext cx="12700" cy="2271812"/>
          </a:xfrm>
          <a:prstGeom prst="rect">
            <a:avLst/>
          </a:prstGeom>
          <a:solidFill>
            <a:srgbClr val="22252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4122638"/>
            <a:ext cx="5638659" cy="12700"/>
          </a:xfrm>
          <a:prstGeom prst="rect">
            <a:avLst/>
          </a:prstGeom>
          <a:solidFill>
            <a:srgbClr val="22252A"/>
          </a:solidFill>
          <a:ln/>
        </p:spPr>
      </p:sp>
      <p:sp>
        <p:nvSpPr>
          <p:cNvPr id="16" name="Text 14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</a:t>
            </a:r>
            <a:endParaRPr lang="en-US" sz="1100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788" y="6531570"/>
            <a:ext cx="1343212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619"/>
            <a:ext cx="11277318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 dirty="0">
                <a:solidFill>
                  <a:srgbClr val="22252A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Система ограничена понятными границами и жесткими правилами статусов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189" y="1528961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Меню до 40 позиций · зал на 12 столиков · без интеграции с внешним складом.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189" y="2112169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CBD3DE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996605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3314581"/>
            <a:ext cx="2001391" cy="32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Принят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839570" y="2996605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839570" y="3314581"/>
            <a:ext cx="2001490" cy="32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Готовится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095053" y="2996605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95053" y="3314581"/>
            <a:ext cx="2001490" cy="32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Готов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350536" y="2996605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50536" y="3314581"/>
            <a:ext cx="2001490" cy="32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Выдан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606020" y="2996605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06020" y="3314581"/>
            <a:ext cx="2001490" cy="32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Оплачен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7189" y="4093170"/>
            <a:ext cx="1173450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kern="100" spc="29" dirty="0">
                <a:solidFill>
                  <a:srgbClr val="22252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Принят → Готовится → Готов → Выдан → Оплачен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189" y="4975027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CBD3D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189" y="5287764"/>
            <a:ext cx="25399" cy="1113036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18" name="Text 16"/>
          <p:cNvSpPr/>
          <p:nvPr/>
        </p:nvSpPr>
        <p:spPr>
          <a:xfrm>
            <a:off x="736582" y="5440640"/>
            <a:ext cx="10743931" cy="32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Отмена чека блокируется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36582" y="5946180"/>
            <a:ext cx="1099792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Если блюда перешли в статус «Готов», отменить чек нельзя.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706223" y="2768005"/>
            <a:ext cx="12700" cy="1096566"/>
          </a:xfrm>
          <a:prstGeom prst="rect">
            <a:avLst/>
          </a:prstGeom>
          <a:solidFill>
            <a:srgbClr val="CBD3DE"/>
          </a:solidFill>
          <a:ln/>
        </p:spPr>
      </p:sp>
      <p:sp>
        <p:nvSpPr>
          <p:cNvPr id="21" name="Shape 19"/>
          <p:cNvSpPr/>
          <p:nvPr/>
        </p:nvSpPr>
        <p:spPr>
          <a:xfrm>
            <a:off x="4961706" y="2768005"/>
            <a:ext cx="12700" cy="1096566"/>
          </a:xfrm>
          <a:prstGeom prst="rect">
            <a:avLst/>
          </a:prstGeom>
          <a:solidFill>
            <a:srgbClr val="CBD3DE"/>
          </a:solidFill>
          <a:ln/>
        </p:spPr>
      </p:sp>
      <p:sp>
        <p:nvSpPr>
          <p:cNvPr id="22" name="Shape 20"/>
          <p:cNvSpPr/>
          <p:nvPr/>
        </p:nvSpPr>
        <p:spPr>
          <a:xfrm>
            <a:off x="7217190" y="2768005"/>
            <a:ext cx="12700" cy="1096566"/>
          </a:xfrm>
          <a:prstGeom prst="rect">
            <a:avLst/>
          </a:prstGeom>
          <a:solidFill>
            <a:srgbClr val="CBD3DE"/>
          </a:solidFill>
          <a:ln/>
        </p:spPr>
      </p:sp>
      <p:sp>
        <p:nvSpPr>
          <p:cNvPr id="23" name="Shape 21"/>
          <p:cNvSpPr/>
          <p:nvPr/>
        </p:nvSpPr>
        <p:spPr>
          <a:xfrm>
            <a:off x="9472673" y="2768005"/>
            <a:ext cx="12700" cy="1096566"/>
          </a:xfrm>
          <a:prstGeom prst="rect">
            <a:avLst/>
          </a:prstGeom>
          <a:solidFill>
            <a:srgbClr val="CBD3DE"/>
          </a:solidFill>
          <a:ln/>
        </p:spPr>
      </p:sp>
      <p:sp>
        <p:nvSpPr>
          <p:cNvPr id="24" name="Text 22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</a:t>
            </a:r>
            <a:endParaRPr lang="en-US" sz="1100" dirty="0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788" y="6531570"/>
            <a:ext cx="1343212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22252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Разграничение доступа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189" y="1203815"/>
            <a:ext cx="11277318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 dirty="0">
                <a:solidFill>
                  <a:srgbClr val="22252A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Три роли, три уровня доступа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1981" y="2192556"/>
            <a:ext cx="3901283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Администратор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61981" y="2751336"/>
            <a:ext cx="3901283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Полное управление меню, ценами и кадрами. Доступ к финансовой аналитике.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52242" y="2471956"/>
            <a:ext cx="590287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Официант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552242" y="3030736"/>
            <a:ext cx="590287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Открытие чека, привязка к столу, добавление доступных позиций и фиксация оплаты.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52242" y="4413468"/>
            <a:ext cx="5902872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Повар / бармен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552242" y="4972248"/>
            <a:ext cx="590287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Кухонный монитор активных задач и смена статуса готовности блюда.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961706" y="1857276"/>
            <a:ext cx="12700" cy="4543524"/>
          </a:xfrm>
          <a:prstGeom prst="rect">
            <a:avLst/>
          </a:prstGeom>
          <a:solidFill>
            <a:srgbClr val="22252A"/>
          </a:solidFill>
          <a:ln/>
        </p:spPr>
      </p:sp>
      <p:sp>
        <p:nvSpPr>
          <p:cNvPr id="11" name="Shape 9"/>
          <p:cNvSpPr/>
          <p:nvPr/>
        </p:nvSpPr>
        <p:spPr>
          <a:xfrm>
            <a:off x="5272849" y="4122638"/>
            <a:ext cx="6461658" cy="12700"/>
          </a:xfrm>
          <a:prstGeom prst="rect">
            <a:avLst/>
          </a:prstGeom>
          <a:solidFill>
            <a:srgbClr val="22252A"/>
          </a:solidFill>
          <a:ln/>
        </p:spPr>
      </p:sp>
      <p:sp>
        <p:nvSpPr>
          <p:cNvPr id="12" name="Text 10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</a:t>
            </a:r>
            <a:endParaRPr lang="en-US" sz="11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83" y="6481692"/>
            <a:ext cx="1343212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619"/>
            <a:ext cx="11277318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Шесть таблиц SQLite защищают целостность данных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189" y="1120080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FFFFFF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SQLite 3 · 6 взаимосвязанных таблиц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494" y="6064674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price_at_order</a:t>
            </a: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фиксирует цену на момент заказа: изменения меню не меняют архивные чеки.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5</a:t>
            </a:r>
            <a:endParaRPr lang="en-US" sz="11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0976" y="6457894"/>
            <a:ext cx="1209844" cy="400106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97" y="1535032"/>
            <a:ext cx="6475625" cy="4450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FFFFFF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Архитектура приложения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189" y="1203815"/>
            <a:ext cx="11277318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 dirty="0">
                <a:solidFill>
                  <a:srgbClr val="FFFFFF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Модульный код на Python устойчив к ошибкам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1182" y="2187476"/>
            <a:ext cx="275325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1182" y="2692896"/>
            <a:ext cx="312333" cy="38100"/>
          </a:xfrm>
          <a:prstGeom prst="roundRect">
            <a:avLst>
              <a:gd name="adj" fmla="val 49999"/>
            </a:avLst>
          </a:prstGeom>
          <a:solidFill>
            <a:srgbClr val="0052CC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2934196"/>
            <a:ext cx="275325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FFFFFF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main.py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18427" y="2187476"/>
            <a:ext cx="350511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718427" y="2692896"/>
            <a:ext cx="406390" cy="38100"/>
          </a:xfrm>
          <a:prstGeom prst="roundRect">
            <a:avLst>
              <a:gd name="adj" fmla="val 49999"/>
            </a:avLst>
          </a:prstGeom>
          <a:solidFill>
            <a:srgbClr val="0052CC"/>
          </a:solidFill>
          <a:ln/>
        </p:spPr>
      </p:sp>
      <p:sp>
        <p:nvSpPr>
          <p:cNvPr id="9" name="Text 7"/>
          <p:cNvSpPr/>
          <p:nvPr/>
        </p:nvSpPr>
        <p:spPr>
          <a:xfrm>
            <a:off x="3718427" y="2934196"/>
            <a:ext cx="350511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FFFFFF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menu_manager.py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77533" y="2187476"/>
            <a:ext cx="42569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77533" y="2692896"/>
            <a:ext cx="500248" cy="38100"/>
          </a:xfrm>
          <a:prstGeom prst="roundRect">
            <a:avLst>
              <a:gd name="adj" fmla="val 49999"/>
            </a:avLst>
          </a:prstGeom>
          <a:solidFill>
            <a:srgbClr val="0052CC"/>
          </a:solidFill>
          <a:ln/>
        </p:spPr>
      </p:sp>
      <p:sp>
        <p:nvSpPr>
          <p:cNvPr id="12" name="Text 10"/>
          <p:cNvSpPr/>
          <p:nvPr/>
        </p:nvSpPr>
        <p:spPr>
          <a:xfrm>
            <a:off x="7477533" y="2934196"/>
            <a:ext cx="42569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FFFFFF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order_manager.py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77533" y="3385641"/>
            <a:ext cx="42569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Транзакционная обработка заказов.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189" y="4627662"/>
            <a:ext cx="563865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189" y="5133082"/>
            <a:ext cx="660284" cy="38100"/>
          </a:xfrm>
          <a:prstGeom prst="roundRect">
            <a:avLst>
              <a:gd name="adj" fmla="val 49999"/>
            </a:avLst>
          </a:prstGeom>
          <a:solidFill>
            <a:srgbClr val="0052C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189" y="5454233"/>
            <a:ext cx="5283068" cy="32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Контекстные менеджеры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57189" y="5959773"/>
            <a:ext cx="528306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Гарантированно закрывают соединения SQLite и защищают от утечек памяти.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51439" y="4627662"/>
            <a:ext cx="528306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05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51439" y="5133082"/>
            <a:ext cx="660284" cy="38100"/>
          </a:xfrm>
          <a:prstGeom prst="roundRect">
            <a:avLst>
              <a:gd name="adj" fmla="val 49999"/>
            </a:avLst>
          </a:prstGeom>
          <a:solidFill>
            <a:srgbClr val="0052CC"/>
          </a:solidFill>
          <a:ln/>
        </p:spPr>
      </p:sp>
      <p:sp>
        <p:nvSpPr>
          <p:cNvPr id="20" name="Text 18"/>
          <p:cNvSpPr/>
          <p:nvPr/>
        </p:nvSpPr>
        <p:spPr>
          <a:xfrm>
            <a:off x="6451439" y="5454233"/>
            <a:ext cx="5283068" cy="32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kern="100" spc="39" dirty="0">
                <a:solidFill>
                  <a:srgbClr val="FFFFFF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run_safe_ui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451439" y="5959773"/>
            <a:ext cx="5283068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Декоратор перехватывает невалидный ввод без аварийного завершения.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458084" y="1831876"/>
            <a:ext cx="12700" cy="2211586"/>
          </a:xfrm>
          <a:prstGeom prst="rect">
            <a:avLst/>
          </a:prstGeom>
          <a:solidFill>
            <a:srgbClr val="5A5F68"/>
          </a:solidFill>
          <a:ln/>
        </p:spPr>
      </p:sp>
      <p:sp>
        <p:nvSpPr>
          <p:cNvPr id="23" name="Shape 21"/>
          <p:cNvSpPr/>
          <p:nvPr/>
        </p:nvSpPr>
        <p:spPr>
          <a:xfrm>
            <a:off x="7217190" y="1831876"/>
            <a:ext cx="12700" cy="2211586"/>
          </a:xfrm>
          <a:prstGeom prst="rect">
            <a:avLst/>
          </a:prstGeom>
          <a:solidFill>
            <a:srgbClr val="5A5F68"/>
          </a:solidFill>
          <a:ln/>
        </p:spPr>
      </p:sp>
      <p:sp>
        <p:nvSpPr>
          <p:cNvPr id="24" name="Shape 22"/>
          <p:cNvSpPr/>
          <p:nvPr/>
        </p:nvSpPr>
        <p:spPr>
          <a:xfrm>
            <a:off x="6089498" y="4272062"/>
            <a:ext cx="12700" cy="2292152"/>
          </a:xfrm>
          <a:prstGeom prst="rect">
            <a:avLst/>
          </a:prstGeom>
          <a:solidFill>
            <a:srgbClr val="5A5F68"/>
          </a:solidFill>
          <a:ln/>
        </p:spPr>
      </p:sp>
      <p:sp>
        <p:nvSpPr>
          <p:cNvPr id="25" name="Text 23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6</a:t>
            </a:r>
            <a:endParaRPr lang="en-US" sz="1100" dirty="0"/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051" y="6497710"/>
            <a:ext cx="1185644" cy="285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6619"/>
            <a:ext cx="11277318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28" dirty="0">
                <a:solidFill>
                  <a:srgbClr val="22252A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Официант работает быстро, повар видит только актуальное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780" y="2431177"/>
            <a:ext cx="6055169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Рабочее место официанта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12780" y="2989957"/>
            <a:ext cx="605516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Динамический стоп-лист оставляет доступными только блюда с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780" y="3743623"/>
            <a:ext cx="641076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22252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is_available = 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2780" y="4249043"/>
            <a:ext cx="6055070" cy="38100"/>
          </a:xfrm>
          <a:prstGeom prst="roundRect">
            <a:avLst>
              <a:gd name="adj" fmla="val 49999"/>
            </a:avLst>
          </a:prstGeom>
          <a:solidFill>
            <a:srgbClr val="0052CC"/>
          </a:solidFill>
          <a:ln/>
        </p:spPr>
      </p:sp>
      <p:sp>
        <p:nvSpPr>
          <p:cNvPr id="7" name="Text 5"/>
          <p:cNvSpPr/>
          <p:nvPr/>
        </p:nvSpPr>
        <p:spPr>
          <a:xfrm>
            <a:off x="812780" y="4490343"/>
            <a:ext cx="605516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Стоимость заказа пересчитывается «на лету» при изменении состава.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79131" y="2431177"/>
            <a:ext cx="3799785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Табло повара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579131" y="2989957"/>
            <a:ext cx="379978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Закрытые и отмененные чеки скрываются из списка задач.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79131" y="3797598"/>
            <a:ext cx="3799785" cy="38100"/>
          </a:xfrm>
          <a:prstGeom prst="roundRect">
            <a:avLst>
              <a:gd name="adj" fmla="val 49999"/>
            </a:avLst>
          </a:prstGeom>
          <a:solidFill>
            <a:srgbClr val="0052CC"/>
          </a:solidFill>
          <a:ln/>
        </p:spPr>
      </p:sp>
      <p:sp>
        <p:nvSpPr>
          <p:cNvPr id="11" name="Text 9"/>
          <p:cNvSpPr/>
          <p:nvPr/>
        </p:nvSpPr>
        <p:spPr>
          <a:xfrm>
            <a:off x="7579131" y="4038898"/>
            <a:ext cx="415537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22252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NOT IN (5, 6)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79131" y="4490343"/>
            <a:ext cx="379978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На экране остаются только актуальные задачи.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217190" y="1120080"/>
            <a:ext cx="12700" cy="5280720"/>
          </a:xfrm>
          <a:prstGeom prst="rect">
            <a:avLst/>
          </a:prstGeom>
          <a:solidFill>
            <a:srgbClr val="2225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7</a:t>
            </a:r>
            <a:endParaRPr lang="en-US" sz="1100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735" y="6531570"/>
            <a:ext cx="1181265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685782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kern="100" spc="34" dirty="0">
                <a:solidFill>
                  <a:srgbClr val="22252A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Результат проекта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57189" y="2649319"/>
            <a:ext cx="6400640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200" kern="100" spc="-63" dirty="0">
                <a:solidFill>
                  <a:srgbClr val="22252A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Готово к развертыванию и росту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189" y="3987105"/>
            <a:ext cx="685782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Продукт готов к локальному развертыванию в кафе.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189" y="6143030"/>
            <a:ext cx="685782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Обеспечены ссылочная целостность данных и защита от утечек памяти.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206" y="2086749"/>
            <a:ext cx="3962301" cy="149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1200" kern="100" spc="-224" dirty="0">
                <a:solidFill>
                  <a:srgbClr val="0052CC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12</a:t>
            </a:r>
            <a:endParaRPr lang="en-US" sz="11200" dirty="0"/>
          </a:p>
        </p:txBody>
      </p:sp>
      <p:sp>
        <p:nvSpPr>
          <p:cNvPr id="7" name="Text 5"/>
          <p:cNvSpPr/>
          <p:nvPr/>
        </p:nvSpPr>
        <p:spPr>
          <a:xfrm>
            <a:off x="7772206" y="3710999"/>
            <a:ext cx="3962301" cy="379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столов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206" y="4269780"/>
            <a:ext cx="396230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2252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Целевой масштаб локального развертывания в кафе «Причал».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08667" y="0"/>
            <a:ext cx="12700" cy="6858000"/>
          </a:xfrm>
          <a:prstGeom prst="rect">
            <a:avLst/>
          </a:prstGeom>
          <a:solidFill>
            <a:srgbClr val="22252A"/>
          </a:solidFill>
          <a:ln/>
        </p:spPr>
      </p:sp>
      <p:sp>
        <p:nvSpPr>
          <p:cNvPr id="10" name="Text 8"/>
          <p:cNvSpPr/>
          <p:nvPr/>
        </p:nvSpPr>
        <p:spPr>
          <a:xfrm>
            <a:off x="11913691" y="6531570"/>
            <a:ext cx="27800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8</a:t>
            </a:r>
            <a:endParaRPr lang="en-US" sz="11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735" y="6531570"/>
            <a:ext cx="1181265" cy="323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378</Words>
  <Application>Microsoft Office PowerPoint</Application>
  <PresentationFormat>Широкоэкранный</PresentationFormat>
  <Paragraphs>93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Calibri</vt:lpstr>
      <vt:lpstr>Fira Sans SemiBold</vt:lpstr>
      <vt:lpstr>Fira Sans</vt:lpstr>
      <vt:lpstr>Fira Mono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user09</dc:creator>
  <cp:lastModifiedBy>user08</cp:lastModifiedBy>
  <cp:revision>4</cp:revision>
  <dcterms:created xsi:type="dcterms:W3CDTF">2026-10-08T12:54:30Z</dcterms:created>
  <dcterms:modified xsi:type="dcterms:W3CDTF">2026-10-08T13:36:41Z</dcterms:modified>
</cp:coreProperties>
</file>