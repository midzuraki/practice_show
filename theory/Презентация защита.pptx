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embeddedFontLst>
    <p:embeddedFont>
      <p:font typeface="Fira Mono" panose="020B0509050000020004" pitchFamily="49" charset="0"/>
      <p:regular r:id="rId11"/>
    </p:embeddedFont>
    <p:embeddedFont>
      <p:font typeface="Fira Sans" panose="020B0503050000020004" pitchFamily="34" charset="0"/>
      <p:regular r:id="rId12"/>
    </p:embeddedFont>
    <p:embeddedFont>
      <p:font typeface="Fira Sans SemiBold" panose="020B0603050000020004" pitchFamily="34" charset="0"/>
      <p:regular r:id="rId1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126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3356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2225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3149521" cy="906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100" spc="34" dirty="0">
                <a:solidFill>
                  <a:srgbClr val="22252A"/>
                </a:solidFill>
                <a:latin typeface="Fira Mono" pitchFamily="34" charset="0"/>
                <a:ea typeface="Fira Mono" pitchFamily="34" charset="-122"/>
                <a:cs typeface="Fira Mono" pitchFamily="34" charset="-120"/>
              </a:rPr>
              <a:t>ПМ.01</a:t>
            </a:r>
            <a:endParaRPr lang="en-US" sz="17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700" kern="100" spc="34" dirty="0">
                <a:solidFill>
                  <a:srgbClr val="22252A"/>
                </a:solidFill>
                <a:latin typeface="Fira Mono" pitchFamily="34" charset="0"/>
                <a:ea typeface="Fira Mono" pitchFamily="34" charset="-122"/>
                <a:cs typeface="Fira Mono" pitchFamily="34" charset="-120"/>
              </a:rPr>
              <a:t>ГБПОУ АО «АКВТ»</a:t>
            </a:r>
            <a:endParaRPr lang="en-US" sz="17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700" kern="100" spc="34" dirty="0">
                <a:solidFill>
                  <a:srgbClr val="22252A"/>
                </a:solidFill>
                <a:latin typeface="Fira Mono" pitchFamily="34" charset="0"/>
                <a:ea typeface="Fira Mono" pitchFamily="34" charset="-122"/>
                <a:cs typeface="Fira Mono" pitchFamily="34" charset="-120"/>
              </a:rPr>
              <a:t>2026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457189" y="5369719"/>
            <a:ext cx="3149521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Разработчики:</a:t>
            </a:r>
            <a:endParaRPr lang="en-US" sz="145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4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студенты гр. ИС-32</a:t>
            </a:r>
            <a:endParaRPr lang="en-US" sz="1450" dirty="0"/>
          </a:p>
          <a:p>
            <a:pPr marL="0" indent="0" algn="l">
              <a:lnSpc>
                <a:spcPct val="117000"/>
              </a:lnSpc>
              <a:buNone/>
            </a:pPr>
            <a:r>
              <a:rPr lang="ru-RU" sz="14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Гусаров</a:t>
            </a:r>
            <a:r>
              <a:rPr lang="en-US" sz="14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</a:t>
            </a:r>
            <a:r>
              <a:rPr lang="ru-RU" sz="14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А</a:t>
            </a:r>
            <a:r>
              <a:rPr lang="en-US" sz="14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.</a:t>
            </a:r>
            <a:r>
              <a:rPr lang="ru-RU" sz="14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С</a:t>
            </a:r>
            <a:r>
              <a:rPr lang="en-US" sz="14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.</a:t>
            </a:r>
            <a:endParaRPr lang="en-US" sz="1450" dirty="0"/>
          </a:p>
          <a:p>
            <a:pPr marL="0" indent="0" algn="l">
              <a:lnSpc>
                <a:spcPct val="117000"/>
              </a:lnSpc>
              <a:buNone/>
            </a:pPr>
            <a:r>
              <a:rPr lang="ru-RU" sz="14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Покусаев</a:t>
            </a:r>
            <a:r>
              <a:rPr lang="en-US" sz="14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</a:t>
            </a:r>
            <a:r>
              <a:rPr lang="ru-RU" sz="14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И</a:t>
            </a:r>
            <a:r>
              <a:rPr lang="en-US" sz="14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.</a:t>
            </a:r>
            <a:r>
              <a:rPr lang="ru-RU" sz="14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А</a:t>
            </a:r>
            <a:r>
              <a:rPr lang="en-US" sz="14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4521087" y="1579662"/>
            <a:ext cx="7670608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100" spc="34" dirty="0">
                <a:solidFill>
                  <a:srgbClr val="22252A"/>
                </a:solidFill>
                <a:latin typeface="Fira Mono" pitchFamily="34" charset="0"/>
                <a:ea typeface="Fira Mono" pitchFamily="34" charset="-122"/>
                <a:cs typeface="Fira Mono" pitchFamily="34" charset="-120"/>
              </a:rPr>
              <a:t>Информационная система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21087" y="2374007"/>
            <a:ext cx="721342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6000" kern="100" spc="-90" dirty="0">
                <a:solidFill>
                  <a:srgbClr val="0052CC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«CapyCafe»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521087" y="3354976"/>
            <a:ext cx="7213420" cy="408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800" kern="100" spc="-28" dirty="0">
                <a:solidFill>
                  <a:srgbClr val="22252A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Кафе «Причал»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21087" y="4060825"/>
            <a:ext cx="2380397" cy="69751"/>
          </a:xfrm>
          <a:prstGeom prst="roundRect">
            <a:avLst>
              <a:gd name="adj" fmla="val 49999"/>
            </a:avLst>
          </a:prstGeom>
          <a:solidFill>
            <a:srgbClr val="0052CC"/>
          </a:solidFill>
          <a:ln/>
        </p:spPr>
      </p:sp>
      <p:sp>
        <p:nvSpPr>
          <p:cNvPr id="8" name="Text 6"/>
          <p:cNvSpPr/>
          <p:nvPr/>
        </p:nvSpPr>
        <p:spPr>
          <a:xfrm>
            <a:off x="4521087" y="4621212"/>
            <a:ext cx="721342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Автоматизация операционного учета в рамках модуля ПМ.01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057548" y="0"/>
            <a:ext cx="12700" cy="6858000"/>
          </a:xfrm>
          <a:prstGeom prst="rect">
            <a:avLst/>
          </a:prstGeom>
          <a:solidFill>
            <a:srgbClr val="22252A"/>
          </a:solidFill>
          <a:ln/>
        </p:spPr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8483" y="6562684"/>
            <a:ext cx="1343212" cy="2953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100" spc="34" dirty="0">
                <a:solidFill>
                  <a:srgbClr val="22252A"/>
                </a:solidFill>
                <a:latin typeface="Fira Mono" pitchFamily="34" charset="0"/>
                <a:ea typeface="Fira Mono" pitchFamily="34" charset="-122"/>
                <a:cs typeface="Fira Mono" pitchFamily="34" charset="-120"/>
              </a:rPr>
              <a:t>Проблема учета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457189" y="1203815"/>
            <a:ext cx="11277318" cy="408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800" kern="100" spc="-28" dirty="0">
                <a:solidFill>
                  <a:srgbClr val="22252A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Бумажный учет дает четыре критичных сбоя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1981" y="2660967"/>
            <a:ext cx="5029074" cy="379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3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Ошибки в суммах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61981" y="3219748"/>
            <a:ext cx="5029074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Ручной подсчет чеков в пиковые часы приводит к арифметическим ошибкам.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640" y="2660967"/>
            <a:ext cx="5029074" cy="379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3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Потеря заказов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6400640" y="3219748"/>
            <a:ext cx="5029074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Бланки теряются и портятся при передаче между залом и кухней.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61981" y="4438868"/>
            <a:ext cx="5029074" cy="379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3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Непрозрачные статусы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761981" y="4997648"/>
            <a:ext cx="5029074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Нет мониторинга выполнения заказов в реальном времени.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640" y="4438868"/>
            <a:ext cx="5029074" cy="379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3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Недостоверная аналитика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400640" y="4997648"/>
            <a:ext cx="5029074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Невозможно точно рассчитать выручку и популярность блюд.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089498" y="1857276"/>
            <a:ext cx="12700" cy="2271713"/>
          </a:xfrm>
          <a:prstGeom prst="rect">
            <a:avLst/>
          </a:prstGeom>
          <a:solidFill>
            <a:srgbClr val="22252A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189" y="4122638"/>
            <a:ext cx="5638659" cy="12700"/>
          </a:xfrm>
          <a:prstGeom prst="rect">
            <a:avLst/>
          </a:prstGeom>
          <a:solidFill>
            <a:srgbClr val="22252A"/>
          </a:solidFill>
          <a:ln/>
        </p:spPr>
      </p:sp>
      <p:sp>
        <p:nvSpPr>
          <p:cNvPr id="14" name="Shape 12"/>
          <p:cNvSpPr/>
          <p:nvPr/>
        </p:nvSpPr>
        <p:spPr>
          <a:xfrm>
            <a:off x="6089498" y="4128988"/>
            <a:ext cx="12700" cy="2271812"/>
          </a:xfrm>
          <a:prstGeom prst="rect">
            <a:avLst/>
          </a:prstGeom>
          <a:solidFill>
            <a:srgbClr val="22252A"/>
          </a:solidFill>
          <a:ln/>
        </p:spPr>
      </p:sp>
      <p:sp>
        <p:nvSpPr>
          <p:cNvPr id="15" name="Shape 13"/>
          <p:cNvSpPr/>
          <p:nvPr/>
        </p:nvSpPr>
        <p:spPr>
          <a:xfrm>
            <a:off x="6095848" y="4122638"/>
            <a:ext cx="5638659" cy="12700"/>
          </a:xfrm>
          <a:prstGeom prst="rect">
            <a:avLst/>
          </a:prstGeom>
          <a:solidFill>
            <a:srgbClr val="22252A"/>
          </a:solidFill>
          <a:ln/>
        </p:spPr>
      </p:sp>
      <p:sp>
        <p:nvSpPr>
          <p:cNvPr id="16" name="Text 14"/>
          <p:cNvSpPr/>
          <p:nvPr/>
        </p:nvSpPr>
        <p:spPr>
          <a:xfrm>
            <a:off x="11913691" y="6531570"/>
            <a:ext cx="27800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2</a:t>
            </a:r>
            <a:endParaRPr lang="en-US" sz="1100" dirty="0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8788" y="6531570"/>
            <a:ext cx="1343212" cy="2953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66619"/>
            <a:ext cx="11277318" cy="817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800" kern="100" spc="-28" dirty="0">
                <a:solidFill>
                  <a:srgbClr val="22252A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Система ограничена понятными границами и жесткими правилами статусов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189" y="1528961"/>
            <a:ext cx="11734506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Меню до 40 позиций · зал на 12 столиков · без интеграции с внешним складом.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189" y="2112169"/>
            <a:ext cx="11277318" cy="31651"/>
          </a:xfrm>
          <a:prstGeom prst="roundRect">
            <a:avLst>
              <a:gd name="adj" fmla="val 49998"/>
            </a:avLst>
          </a:prstGeom>
          <a:solidFill>
            <a:srgbClr val="CBD3DE"/>
          </a:solidFill>
          <a:ln/>
        </p:spPr>
      </p:sp>
      <p:sp>
        <p:nvSpPr>
          <p:cNvPr id="5" name="Text 3"/>
          <p:cNvSpPr/>
          <p:nvPr/>
        </p:nvSpPr>
        <p:spPr>
          <a:xfrm>
            <a:off x="584185" y="2996605"/>
            <a:ext cx="851474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84185" y="3314581"/>
            <a:ext cx="2001391" cy="321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Принят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2839570" y="2996605"/>
            <a:ext cx="851474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839570" y="3314581"/>
            <a:ext cx="2001490" cy="321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Готовится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5095053" y="2996605"/>
            <a:ext cx="851474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095053" y="3314581"/>
            <a:ext cx="2001490" cy="321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Готов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350536" y="2996605"/>
            <a:ext cx="851474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50536" y="3314581"/>
            <a:ext cx="2001490" cy="321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Выдан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606020" y="2996605"/>
            <a:ext cx="851474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05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606020" y="3314581"/>
            <a:ext cx="2001490" cy="321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Оплачен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457189" y="4093170"/>
            <a:ext cx="11734506" cy="257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50" kern="100" spc="29" dirty="0">
                <a:solidFill>
                  <a:srgbClr val="22252A"/>
                </a:solidFill>
                <a:latin typeface="Fira Mono" pitchFamily="34" charset="0"/>
                <a:ea typeface="Fira Mono" pitchFamily="34" charset="-122"/>
                <a:cs typeface="Fira Mono" pitchFamily="34" charset="-120"/>
              </a:rPr>
              <a:t>Принят → Готовится → Готов → Выдан → Оплачен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57189" y="4975027"/>
            <a:ext cx="11277318" cy="31651"/>
          </a:xfrm>
          <a:prstGeom prst="roundRect">
            <a:avLst>
              <a:gd name="adj" fmla="val 49998"/>
            </a:avLst>
          </a:prstGeom>
          <a:solidFill>
            <a:srgbClr val="CBD3DE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189" y="5287764"/>
            <a:ext cx="25399" cy="1113036"/>
          </a:xfrm>
          <a:prstGeom prst="rect">
            <a:avLst/>
          </a:prstGeom>
          <a:solidFill>
            <a:srgbClr val="0052CC"/>
          </a:solidFill>
          <a:ln/>
        </p:spPr>
      </p:sp>
      <p:sp>
        <p:nvSpPr>
          <p:cNvPr id="18" name="Text 16"/>
          <p:cNvSpPr/>
          <p:nvPr/>
        </p:nvSpPr>
        <p:spPr>
          <a:xfrm>
            <a:off x="736582" y="5440640"/>
            <a:ext cx="10743931" cy="321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Отмена чека блокируется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736582" y="5946180"/>
            <a:ext cx="10997925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Если блюда перешли в статус «Готов», отменить чек нельзя.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2706223" y="2768005"/>
            <a:ext cx="12700" cy="1096566"/>
          </a:xfrm>
          <a:prstGeom prst="rect">
            <a:avLst/>
          </a:prstGeom>
          <a:solidFill>
            <a:srgbClr val="CBD3DE"/>
          </a:solidFill>
          <a:ln/>
        </p:spPr>
      </p:sp>
      <p:sp>
        <p:nvSpPr>
          <p:cNvPr id="21" name="Shape 19"/>
          <p:cNvSpPr/>
          <p:nvPr/>
        </p:nvSpPr>
        <p:spPr>
          <a:xfrm>
            <a:off x="4961706" y="2768005"/>
            <a:ext cx="12700" cy="1096566"/>
          </a:xfrm>
          <a:prstGeom prst="rect">
            <a:avLst/>
          </a:prstGeom>
          <a:solidFill>
            <a:srgbClr val="CBD3DE"/>
          </a:solidFill>
          <a:ln/>
        </p:spPr>
      </p:sp>
      <p:sp>
        <p:nvSpPr>
          <p:cNvPr id="22" name="Shape 20"/>
          <p:cNvSpPr/>
          <p:nvPr/>
        </p:nvSpPr>
        <p:spPr>
          <a:xfrm>
            <a:off x="7217190" y="2768005"/>
            <a:ext cx="12700" cy="1096566"/>
          </a:xfrm>
          <a:prstGeom prst="rect">
            <a:avLst/>
          </a:prstGeom>
          <a:solidFill>
            <a:srgbClr val="CBD3DE"/>
          </a:solidFill>
          <a:ln/>
        </p:spPr>
      </p:sp>
      <p:sp>
        <p:nvSpPr>
          <p:cNvPr id="23" name="Shape 21"/>
          <p:cNvSpPr/>
          <p:nvPr/>
        </p:nvSpPr>
        <p:spPr>
          <a:xfrm>
            <a:off x="9472673" y="2768005"/>
            <a:ext cx="12700" cy="1096566"/>
          </a:xfrm>
          <a:prstGeom prst="rect">
            <a:avLst/>
          </a:prstGeom>
          <a:solidFill>
            <a:srgbClr val="CBD3DE"/>
          </a:solidFill>
          <a:ln/>
        </p:spPr>
      </p:sp>
      <p:sp>
        <p:nvSpPr>
          <p:cNvPr id="24" name="Text 22"/>
          <p:cNvSpPr/>
          <p:nvPr/>
        </p:nvSpPr>
        <p:spPr>
          <a:xfrm>
            <a:off x="11913691" y="6531570"/>
            <a:ext cx="27800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3</a:t>
            </a:r>
            <a:endParaRPr lang="en-US" sz="1100" dirty="0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8788" y="6531570"/>
            <a:ext cx="1343212" cy="2953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100" spc="34" dirty="0">
                <a:solidFill>
                  <a:srgbClr val="22252A"/>
                </a:solidFill>
                <a:latin typeface="Fira Mono" pitchFamily="34" charset="0"/>
                <a:ea typeface="Fira Mono" pitchFamily="34" charset="-122"/>
                <a:cs typeface="Fira Mono" pitchFamily="34" charset="-120"/>
              </a:rPr>
              <a:t>Разграничение доступа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457189" y="1203815"/>
            <a:ext cx="11277318" cy="408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800" kern="100" spc="-28" dirty="0">
                <a:solidFill>
                  <a:srgbClr val="22252A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Три роли, три уровня доступа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1981" y="2192556"/>
            <a:ext cx="3901283" cy="379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3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Администратор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61981" y="2751336"/>
            <a:ext cx="3901283" cy="906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Полное управление меню, ценами и кадрами. Доступ к финансовой аналитике.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552242" y="2471956"/>
            <a:ext cx="5902872" cy="379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3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Официант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552242" y="3030736"/>
            <a:ext cx="5902872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Открытие чека, привязка к столу, добавление доступных позиций и фиксация оплаты.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552242" y="4413468"/>
            <a:ext cx="5902872" cy="379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3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Повар / бармен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5552242" y="4972248"/>
            <a:ext cx="5902872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Кухонный монитор активных задач и смена статуса готовности блюда.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961706" y="1857276"/>
            <a:ext cx="12700" cy="4543524"/>
          </a:xfrm>
          <a:prstGeom prst="rect">
            <a:avLst/>
          </a:prstGeom>
          <a:solidFill>
            <a:srgbClr val="22252A"/>
          </a:solidFill>
          <a:ln/>
        </p:spPr>
      </p:sp>
      <p:sp>
        <p:nvSpPr>
          <p:cNvPr id="11" name="Shape 9"/>
          <p:cNvSpPr/>
          <p:nvPr/>
        </p:nvSpPr>
        <p:spPr>
          <a:xfrm>
            <a:off x="5272849" y="4122638"/>
            <a:ext cx="6461658" cy="12700"/>
          </a:xfrm>
          <a:prstGeom prst="rect">
            <a:avLst/>
          </a:prstGeom>
          <a:solidFill>
            <a:srgbClr val="22252A"/>
          </a:solidFill>
          <a:ln/>
        </p:spPr>
      </p:sp>
      <p:sp>
        <p:nvSpPr>
          <p:cNvPr id="12" name="Text 10"/>
          <p:cNvSpPr/>
          <p:nvPr/>
        </p:nvSpPr>
        <p:spPr>
          <a:xfrm>
            <a:off x="11913691" y="6531570"/>
            <a:ext cx="27800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4</a:t>
            </a:r>
            <a:endParaRPr lang="en-US" sz="1100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8483" y="6481692"/>
            <a:ext cx="1343212" cy="2953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66619"/>
            <a:ext cx="11277318" cy="408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800" kern="100" spc="-28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Шесть таблиц SQLite защищают целостность данных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189" y="1120080"/>
            <a:ext cx="11734506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100" spc="34" dirty="0">
                <a:solidFill>
                  <a:srgbClr val="FFFFFF"/>
                </a:solidFill>
                <a:latin typeface="Fira Mono" pitchFamily="34" charset="0"/>
                <a:ea typeface="Fira Mono" pitchFamily="34" charset="-122"/>
                <a:cs typeface="Fira Mono" pitchFamily="34" charset="-120"/>
              </a:rPr>
              <a:t>SQLite 3 · 6 взаимосвязанных таблиц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494" y="6064674"/>
            <a:ext cx="11734506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ira Mono" pitchFamily="34" charset="0"/>
                <a:ea typeface="Fira Mono" pitchFamily="34" charset="-122"/>
                <a:cs typeface="Fira Mono" pitchFamily="34" charset="-120"/>
              </a:rPr>
              <a:t>price_at_order</a:t>
            </a:r>
            <a:r>
              <a:rPr lang="en-US" sz="17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фиксирует цену на момент заказа: изменения меню не меняют архивные чеки.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913691" y="6531570"/>
            <a:ext cx="27800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5</a:t>
            </a:r>
            <a:endParaRPr lang="en-US" sz="1100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0976" y="6457894"/>
            <a:ext cx="1209844" cy="400106"/>
          </a:xfrm>
          <a:prstGeom prst="rect">
            <a:avLst/>
          </a:prstGeom>
        </p:spPr>
      </p:pic>
      <p:pic>
        <p:nvPicPr>
          <p:cNvPr id="7" name="Рисунок 6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197" y="1535032"/>
            <a:ext cx="6475625" cy="44507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100" spc="34" dirty="0">
                <a:solidFill>
                  <a:srgbClr val="FFFFFF"/>
                </a:solidFill>
                <a:latin typeface="Fira Mono" pitchFamily="34" charset="0"/>
                <a:ea typeface="Fira Mono" pitchFamily="34" charset="-122"/>
                <a:cs typeface="Fira Mono" pitchFamily="34" charset="-120"/>
              </a:rPr>
              <a:t>Архитектура приложения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457189" y="1203815"/>
            <a:ext cx="11277318" cy="408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800" kern="100" spc="-28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Модульный код на Python устойчив к ошибкам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1182" y="2187476"/>
            <a:ext cx="2753251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01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11182" y="2692896"/>
            <a:ext cx="312333" cy="38100"/>
          </a:xfrm>
          <a:prstGeom prst="roundRect">
            <a:avLst>
              <a:gd name="adj" fmla="val 49999"/>
            </a:avLst>
          </a:prstGeom>
          <a:solidFill>
            <a:srgbClr val="0052CC"/>
          </a:solidFill>
          <a:ln/>
        </p:spPr>
      </p:sp>
      <p:sp>
        <p:nvSpPr>
          <p:cNvPr id="6" name="Text 4"/>
          <p:cNvSpPr/>
          <p:nvPr/>
        </p:nvSpPr>
        <p:spPr>
          <a:xfrm>
            <a:off x="711182" y="2934196"/>
            <a:ext cx="2753251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100" spc="34" dirty="0">
                <a:solidFill>
                  <a:srgbClr val="FFFFFF"/>
                </a:solidFill>
                <a:latin typeface="Fira Mono" pitchFamily="34" charset="0"/>
                <a:ea typeface="Fira Mono" pitchFamily="34" charset="-122"/>
                <a:cs typeface="Fira Mono" pitchFamily="34" charset="-120"/>
              </a:rPr>
              <a:t>main.py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718427" y="2187476"/>
            <a:ext cx="3505112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02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718427" y="2692896"/>
            <a:ext cx="406390" cy="38100"/>
          </a:xfrm>
          <a:prstGeom prst="roundRect">
            <a:avLst>
              <a:gd name="adj" fmla="val 49999"/>
            </a:avLst>
          </a:prstGeom>
          <a:solidFill>
            <a:srgbClr val="0052CC"/>
          </a:solidFill>
          <a:ln/>
        </p:spPr>
      </p:sp>
      <p:sp>
        <p:nvSpPr>
          <p:cNvPr id="9" name="Text 7"/>
          <p:cNvSpPr/>
          <p:nvPr/>
        </p:nvSpPr>
        <p:spPr>
          <a:xfrm>
            <a:off x="3718427" y="2934196"/>
            <a:ext cx="3505112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100" spc="34" dirty="0">
                <a:solidFill>
                  <a:srgbClr val="FFFFFF"/>
                </a:solidFill>
                <a:latin typeface="Fira Mono" pitchFamily="34" charset="0"/>
                <a:ea typeface="Fira Mono" pitchFamily="34" charset="-122"/>
                <a:cs typeface="Fira Mono" pitchFamily="34" charset="-120"/>
              </a:rPr>
              <a:t>menu_manager.py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77533" y="2187476"/>
            <a:ext cx="4256973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03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477533" y="2692896"/>
            <a:ext cx="500248" cy="38100"/>
          </a:xfrm>
          <a:prstGeom prst="roundRect">
            <a:avLst>
              <a:gd name="adj" fmla="val 49999"/>
            </a:avLst>
          </a:prstGeom>
          <a:solidFill>
            <a:srgbClr val="0052CC"/>
          </a:solidFill>
          <a:ln/>
        </p:spPr>
      </p:sp>
      <p:sp>
        <p:nvSpPr>
          <p:cNvPr id="12" name="Text 10"/>
          <p:cNvSpPr/>
          <p:nvPr/>
        </p:nvSpPr>
        <p:spPr>
          <a:xfrm>
            <a:off x="7477533" y="2934196"/>
            <a:ext cx="4256973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100" spc="34" dirty="0">
                <a:solidFill>
                  <a:srgbClr val="FFFFFF"/>
                </a:solidFill>
                <a:latin typeface="Fira Mono" pitchFamily="34" charset="0"/>
                <a:ea typeface="Fira Mono" pitchFamily="34" charset="-122"/>
                <a:cs typeface="Fira Mono" pitchFamily="34" charset="-120"/>
              </a:rPr>
              <a:t>order_manager.py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477533" y="3385641"/>
            <a:ext cx="4256973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Транзакционная обработка заказов.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7189" y="4627662"/>
            <a:ext cx="5638659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04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57189" y="5133082"/>
            <a:ext cx="660284" cy="38100"/>
          </a:xfrm>
          <a:prstGeom prst="roundRect">
            <a:avLst>
              <a:gd name="adj" fmla="val 49999"/>
            </a:avLst>
          </a:prstGeom>
          <a:solidFill>
            <a:srgbClr val="0052C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189" y="5454233"/>
            <a:ext cx="5283068" cy="321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Контекстные менеджеры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457189" y="5959773"/>
            <a:ext cx="5283068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Гарантированно закрывают соединения SQLite и защищают от утечек памяти.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51439" y="4627662"/>
            <a:ext cx="5283068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05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51439" y="5133082"/>
            <a:ext cx="660284" cy="38100"/>
          </a:xfrm>
          <a:prstGeom prst="roundRect">
            <a:avLst>
              <a:gd name="adj" fmla="val 49999"/>
            </a:avLst>
          </a:prstGeom>
          <a:solidFill>
            <a:srgbClr val="0052CC"/>
          </a:solidFill>
          <a:ln/>
        </p:spPr>
      </p:sp>
      <p:sp>
        <p:nvSpPr>
          <p:cNvPr id="20" name="Text 18"/>
          <p:cNvSpPr/>
          <p:nvPr/>
        </p:nvSpPr>
        <p:spPr>
          <a:xfrm>
            <a:off x="6451439" y="5454233"/>
            <a:ext cx="5283068" cy="321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50" kern="100" spc="39" dirty="0">
                <a:solidFill>
                  <a:srgbClr val="FFFFFF"/>
                </a:solidFill>
                <a:latin typeface="Fira Mono" pitchFamily="34" charset="0"/>
                <a:ea typeface="Fira Mono" pitchFamily="34" charset="-122"/>
                <a:cs typeface="Fira Mono" pitchFamily="34" charset="-120"/>
              </a:rPr>
              <a:t>run_safe_ui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6451439" y="5959773"/>
            <a:ext cx="5283068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Декоратор перехватывает невалидный ввод без аварийного завершения.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3458084" y="1831876"/>
            <a:ext cx="12700" cy="2211586"/>
          </a:xfrm>
          <a:prstGeom prst="rect">
            <a:avLst/>
          </a:prstGeom>
          <a:solidFill>
            <a:srgbClr val="5A5F68"/>
          </a:solidFill>
          <a:ln/>
        </p:spPr>
      </p:sp>
      <p:sp>
        <p:nvSpPr>
          <p:cNvPr id="23" name="Shape 21"/>
          <p:cNvSpPr/>
          <p:nvPr/>
        </p:nvSpPr>
        <p:spPr>
          <a:xfrm>
            <a:off x="7217190" y="1831876"/>
            <a:ext cx="12700" cy="2211586"/>
          </a:xfrm>
          <a:prstGeom prst="rect">
            <a:avLst/>
          </a:prstGeom>
          <a:solidFill>
            <a:srgbClr val="5A5F68"/>
          </a:solidFill>
          <a:ln/>
        </p:spPr>
      </p:sp>
      <p:sp>
        <p:nvSpPr>
          <p:cNvPr id="24" name="Shape 22"/>
          <p:cNvSpPr/>
          <p:nvPr/>
        </p:nvSpPr>
        <p:spPr>
          <a:xfrm>
            <a:off x="6089498" y="4272062"/>
            <a:ext cx="12700" cy="2292152"/>
          </a:xfrm>
          <a:prstGeom prst="rect">
            <a:avLst/>
          </a:prstGeom>
          <a:solidFill>
            <a:srgbClr val="5A5F68"/>
          </a:solidFill>
          <a:ln/>
        </p:spPr>
      </p:sp>
      <p:sp>
        <p:nvSpPr>
          <p:cNvPr id="25" name="Text 23"/>
          <p:cNvSpPr/>
          <p:nvPr/>
        </p:nvSpPr>
        <p:spPr>
          <a:xfrm>
            <a:off x="11913691" y="6531570"/>
            <a:ext cx="27800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6</a:t>
            </a:r>
            <a:endParaRPr lang="en-US" sz="1100" dirty="0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6051" y="6497710"/>
            <a:ext cx="1185644" cy="28579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66619"/>
            <a:ext cx="11277318" cy="408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800" kern="100" spc="-28" dirty="0">
                <a:solidFill>
                  <a:srgbClr val="22252A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Официант работает быстро, повар видит только актуальное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12780" y="2431177"/>
            <a:ext cx="6055169" cy="379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3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Рабочее место официанта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812780" y="2989957"/>
            <a:ext cx="6055169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Динамический стоп-лист оставляет доступными только блюда с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3743623"/>
            <a:ext cx="6410760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100" spc="34" dirty="0">
                <a:solidFill>
                  <a:srgbClr val="22252A"/>
                </a:solidFill>
                <a:latin typeface="Fira Mono" pitchFamily="34" charset="0"/>
                <a:ea typeface="Fira Mono" pitchFamily="34" charset="-122"/>
                <a:cs typeface="Fira Mono" pitchFamily="34" charset="-120"/>
              </a:rPr>
              <a:t>is_available = 1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12780" y="4249043"/>
            <a:ext cx="6055070" cy="38100"/>
          </a:xfrm>
          <a:prstGeom prst="roundRect">
            <a:avLst>
              <a:gd name="adj" fmla="val 49999"/>
            </a:avLst>
          </a:prstGeom>
          <a:solidFill>
            <a:srgbClr val="0052CC"/>
          </a:solidFill>
          <a:ln/>
        </p:spPr>
      </p:sp>
      <p:sp>
        <p:nvSpPr>
          <p:cNvPr id="7" name="Text 5"/>
          <p:cNvSpPr/>
          <p:nvPr/>
        </p:nvSpPr>
        <p:spPr>
          <a:xfrm>
            <a:off x="812780" y="4490343"/>
            <a:ext cx="6055169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Стоимость заказа пересчитывается «на лету» при изменении состава.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579131" y="2431177"/>
            <a:ext cx="3799785" cy="379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3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Табло повара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7579131" y="2989957"/>
            <a:ext cx="3799785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Закрытые и отмененные чеки скрываются из списка задач.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579131" y="3797598"/>
            <a:ext cx="3799785" cy="38100"/>
          </a:xfrm>
          <a:prstGeom prst="roundRect">
            <a:avLst>
              <a:gd name="adj" fmla="val 49999"/>
            </a:avLst>
          </a:prstGeom>
          <a:solidFill>
            <a:srgbClr val="0052CC"/>
          </a:solidFill>
          <a:ln/>
        </p:spPr>
      </p:sp>
      <p:sp>
        <p:nvSpPr>
          <p:cNvPr id="11" name="Text 9"/>
          <p:cNvSpPr/>
          <p:nvPr/>
        </p:nvSpPr>
        <p:spPr>
          <a:xfrm>
            <a:off x="7579131" y="4038898"/>
            <a:ext cx="4155376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100" spc="34" dirty="0">
                <a:solidFill>
                  <a:srgbClr val="22252A"/>
                </a:solidFill>
                <a:latin typeface="Fira Mono" pitchFamily="34" charset="0"/>
                <a:ea typeface="Fira Mono" pitchFamily="34" charset="-122"/>
                <a:cs typeface="Fira Mono" pitchFamily="34" charset="-120"/>
              </a:rPr>
              <a:t>NOT IN (5, 6)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579131" y="4490343"/>
            <a:ext cx="3799785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На экране остаются только актуальные задачи.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217190" y="1120080"/>
            <a:ext cx="12700" cy="5280720"/>
          </a:xfrm>
          <a:prstGeom prst="rect">
            <a:avLst/>
          </a:prstGeom>
          <a:solidFill>
            <a:srgbClr val="22252A"/>
          </a:solidFill>
          <a:ln/>
        </p:spPr>
      </p:sp>
      <p:sp>
        <p:nvSpPr>
          <p:cNvPr id="14" name="Text 12"/>
          <p:cNvSpPr/>
          <p:nvPr/>
        </p:nvSpPr>
        <p:spPr>
          <a:xfrm>
            <a:off x="11913691" y="6531570"/>
            <a:ext cx="27800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7</a:t>
            </a:r>
            <a:endParaRPr lang="en-US" sz="1100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0735" y="6531570"/>
            <a:ext cx="1181265" cy="3238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6857828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kern="100" spc="34" dirty="0">
                <a:solidFill>
                  <a:srgbClr val="22252A"/>
                </a:solidFill>
                <a:latin typeface="Fira Mono" pitchFamily="34" charset="0"/>
                <a:ea typeface="Fira Mono" pitchFamily="34" charset="-122"/>
                <a:cs typeface="Fira Mono" pitchFamily="34" charset="-120"/>
              </a:rPr>
              <a:t>Результат проекта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457189" y="2649319"/>
            <a:ext cx="6400640" cy="11199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200" kern="100" spc="-63" dirty="0">
                <a:solidFill>
                  <a:srgbClr val="22252A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Готово к развертыванию и росту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189" y="3987105"/>
            <a:ext cx="6857828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Продукт готов к локальному развертыванию в кафе.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189" y="6143030"/>
            <a:ext cx="6857828" cy="257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50" dirty="0">
                <a:solidFill>
                  <a:srgbClr val="22252A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Обеспечены ссылочная целостность данных и защита от утечек памяти.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206" y="2086749"/>
            <a:ext cx="3962301" cy="1493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endParaRPr lang="en-US" sz="11200" dirty="0"/>
          </a:p>
        </p:txBody>
      </p:sp>
      <p:sp>
        <p:nvSpPr>
          <p:cNvPr id="8" name="Text 6"/>
          <p:cNvSpPr/>
          <p:nvPr/>
        </p:nvSpPr>
        <p:spPr>
          <a:xfrm>
            <a:off x="7772206" y="4269780"/>
            <a:ext cx="3962301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08667" y="0"/>
            <a:ext cx="12700" cy="6858000"/>
          </a:xfrm>
          <a:prstGeom prst="rect">
            <a:avLst/>
          </a:prstGeom>
          <a:solidFill>
            <a:srgbClr val="22252A"/>
          </a:solidFill>
          <a:ln/>
        </p:spPr>
      </p:sp>
      <p:sp>
        <p:nvSpPr>
          <p:cNvPr id="10" name="Text 8"/>
          <p:cNvSpPr/>
          <p:nvPr/>
        </p:nvSpPr>
        <p:spPr>
          <a:xfrm>
            <a:off x="11913691" y="6531570"/>
            <a:ext cx="27800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8</a:t>
            </a:r>
            <a:endParaRPr lang="en-US" sz="1100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0735" y="6531570"/>
            <a:ext cx="1181265" cy="323895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F4276730-C541-7144-14DA-1B73B9C71B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4916" y="73479"/>
            <a:ext cx="4416879" cy="4416879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BA7E6F27-9B35-374D-E954-1FD821F704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9486" y="4653062"/>
            <a:ext cx="1747738" cy="174773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391</Words>
  <Application>Microsoft Office PowerPoint</Application>
  <PresentationFormat>Широкоэкранный</PresentationFormat>
  <Paragraphs>90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Arial</vt:lpstr>
      <vt:lpstr>Fira Mono</vt:lpstr>
      <vt:lpstr>Fira Sans SemiBold</vt:lpstr>
      <vt:lpstr>Fira Sans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user09</dc:creator>
  <cp:lastModifiedBy>Midzu</cp:lastModifiedBy>
  <cp:revision>5</cp:revision>
  <dcterms:created xsi:type="dcterms:W3CDTF">2026-10-08T12:54:30Z</dcterms:created>
  <dcterms:modified xsi:type="dcterms:W3CDTF">2026-10-08T19:31:56Z</dcterms:modified>
</cp:coreProperties>
</file>